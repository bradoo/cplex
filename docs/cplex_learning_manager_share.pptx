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263E"/>
                </a:solidFill>
                <a:latin typeface="PingFang SC"/>
              </a:defRPr>
            </a:pPr>
            <a:r>
              <a:t>CPLEX 学习成果汇报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53312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C6978"/>
                </a:solidFill>
                <a:latin typeface="PingFang SC"/>
              </a:defRPr>
            </a:pPr>
            <a:r>
              <a:t>从数学优化基础，到排班系统，再到跨境电商库存与物流模拟器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1645920" cy="38404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3969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变量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057400"/>
            <a:ext cx="1645920" cy="384048"/>
          </a:xfrm>
          <a:prstGeom prst="round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13969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57400"/>
            <a:ext cx="1645920" cy="384048"/>
          </a:xfrm>
          <a:prstGeom prst="round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13969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约束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2011680" cy="384048"/>
          </a:xfrm>
          <a:prstGeom prst="roundRect">
            <a:avLst/>
          </a:prstGeom>
          <a:solidFill>
            <a:srgbClr val="B8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139696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PingFang SC"/>
              </a:defRPr>
            </a:pPr>
            <a:r>
              <a:t>业务解释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26080"/>
            <a:ext cx="73152" cy="2103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090672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一句话总结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6432"/>
            <a:ext cx="2971800" cy="1444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把复杂业务问题翻译成可计算的决策模型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让成本、服务、风险和资源取舍变得清楚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2608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926080"/>
            <a:ext cx="73152" cy="210312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090672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当前成果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456432"/>
            <a:ext cx="2971800" cy="1444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可运行 Python 示例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排班 Web/API 系统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跨境电商 35 场景模拟器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92608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2926080"/>
            <a:ext cx="73152" cy="210312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3090672"/>
            <a:ext cx="2971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汇报重点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3456432"/>
            <a:ext cx="2971800" cy="1444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学到了什么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能解决什么业务问题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下一步如何落地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63E"/>
                </a:solidFill>
                <a:latin typeface="PingFang SC"/>
              </a:defRPr>
            </a:pPr>
            <a:r>
              <a:t>学习路线总览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C6978"/>
                </a:solidFill>
                <a:latin typeface="PingFang SC"/>
              </a:defRPr>
            </a:pPr>
            <a:r>
              <a:t>从简单模型逐步走到可演示的业务系统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965960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2140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63E"/>
                </a:solidFill>
                <a:latin typeface="PingFang SC"/>
              </a:defRPr>
            </a:pPr>
            <a:r>
              <a:t>优化基础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182112"/>
            <a:ext cx="16276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8"/>
                </a:solidFill>
                <a:latin typeface="PingFang SC"/>
              </a:defRPr>
            </a:pPr>
            <a:r>
              <a:t>背包、运输、仓库选址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1328" y="2267712"/>
            <a:ext cx="132588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71800" y="1965960"/>
            <a:ext cx="658368" cy="658368"/>
          </a:xfrm>
          <a:prstGeom prst="ellipse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12140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8892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63E"/>
                </a:solidFill>
                <a:latin typeface="PingFang SC"/>
              </a:defRPr>
            </a:pPr>
            <a:r>
              <a:t>排班建模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3182112"/>
            <a:ext cx="16276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8"/>
                </a:solidFill>
                <a:latin typeface="PingFang SC"/>
              </a:defRPr>
            </a:pPr>
            <a:r>
              <a:t>覆盖、可用性、公平性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1608" y="2267712"/>
            <a:ext cx="132588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2080" y="1965960"/>
            <a:ext cx="658368" cy="658368"/>
          </a:xfrm>
          <a:prstGeom prst="ellipse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12140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78892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63E"/>
                </a:solidFill>
                <a:latin typeface="PingFang SC"/>
              </a:defRPr>
            </a:pPr>
            <a:r>
              <a:t>复杂规则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182112"/>
            <a:ext cx="16276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8"/>
                </a:solidFill>
                <a:latin typeface="PingFang SC"/>
              </a:defRPr>
            </a:pPr>
            <a:r>
              <a:t>软约束、多目标、分阶段优化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61888" y="2267712"/>
            <a:ext cx="132588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52360" y="1965960"/>
            <a:ext cx="658368" cy="658368"/>
          </a:xfrm>
          <a:prstGeom prst="ellipse">
            <a:avLst/>
          </a:prstGeom>
          <a:solidFill>
            <a:srgbClr val="B8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12140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78892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63E"/>
                </a:solidFill>
                <a:latin typeface="PingFang SC"/>
              </a:defRPr>
            </a:pPr>
            <a:r>
              <a:t>工程化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3182112"/>
            <a:ext cx="16276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8"/>
                </a:solidFill>
                <a:latin typeface="PingFang SC"/>
              </a:defRPr>
            </a:pPr>
            <a:r>
              <a:t>CSV、API、测试、报表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2267712"/>
            <a:ext cx="1325880" cy="36576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1965960"/>
            <a:ext cx="658368" cy="658368"/>
          </a:xfrm>
          <a:prstGeom prst="ellipse">
            <a:avLst/>
          </a:prstGeom>
          <a:solidFill>
            <a:srgbClr val="5C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12140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78892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63E"/>
                </a:solidFill>
                <a:latin typeface="PingFang SC"/>
              </a:defRPr>
            </a:pPr>
            <a:r>
              <a:t>业务扩展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3182112"/>
            <a:ext cx="1627632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8"/>
                </a:solidFill>
                <a:latin typeface="PingFang SC"/>
              </a:defRPr>
            </a:pPr>
            <a:r>
              <a:t>跨境电商 35 个场景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572000"/>
            <a:ext cx="10332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572000"/>
            <a:ext cx="73152" cy="1005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736592"/>
            <a:ext cx="10012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核心主线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102352"/>
            <a:ext cx="10012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业务问题 -&gt; 决策变量 -&gt; 目标函数 -&gt; 约束条件 -&gt; CPLEX 求解 -&gt; 解释结果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63E"/>
                </a:solidFill>
                <a:latin typeface="PingFang SC"/>
              </a:defRPr>
            </a:pPr>
            <a:r>
              <a:t>CPLEX 模型的核心框架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C6978"/>
                </a:solidFill>
                <a:latin typeface="PingFang SC"/>
              </a:defRPr>
            </a:pPr>
            <a:r>
              <a:t>以后看任何优化模型，都先问这三个问题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3474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变量：模型能决定什么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3154679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选不选某个方案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开不开某个仓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谁哪天上班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发多少、买多少、分多少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347472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目标：模型想让什么最好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30552"/>
            <a:ext cx="3154679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成本最低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利润最高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缺口最少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风险最低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服务水平更稳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73152" cy="347472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64792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约束：必须遵守的规则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130552"/>
            <a:ext cx="3154679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预算、容量、库存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SLA、交期、现金流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员工可用性、技能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供应商起订量和可靠性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263E"/>
                </a:solidFill>
                <a:latin typeface="PingFang SC"/>
              </a:defRPr>
            </a:pPr>
            <a:r>
              <a:t>业务价值：把“经验判断”变成“可计算、可复查、可解释”的决策过程。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63E"/>
                </a:solidFill>
                <a:latin typeface="PingFang SC"/>
              </a:defRPr>
            </a:pPr>
            <a:r>
              <a:t>已完成的基础模型能力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C6978"/>
                </a:solidFill>
                <a:latin typeface="PingFang SC"/>
              </a:defRPr>
            </a:pPr>
            <a:r>
              <a:t>用四类经典问题建立优化建模手感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651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背包问题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23317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0/1 决策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容量有限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价值最大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651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11880" y="1417320"/>
            <a:ext cx="73152" cy="329184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581912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运输问题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1947672"/>
            <a:ext cx="23317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连续变量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供需平衡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运输成本最低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417320"/>
            <a:ext cx="26517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417320"/>
            <a:ext cx="73152" cy="329184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1581912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仓库选址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1947672"/>
            <a:ext cx="233172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开仓 0/1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客户分配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固定+变动成本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417320"/>
            <a:ext cx="21488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72600" y="1417320"/>
            <a:ext cx="73152" cy="3291840"/>
          </a:xfrm>
          <a:prstGeom prst="rect">
            <a:avLst/>
          </a:prstGeom>
          <a:solidFill>
            <a:srgbClr val="B8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158191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8392F"/>
                </a:solidFill>
                <a:latin typeface="PingFang SC"/>
              </a:defRPr>
            </a:pPr>
            <a:r>
              <a:t>排班问题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1947672"/>
            <a:ext cx="1828800" cy="2633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人员安排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覆盖需求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公平性目标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263E"/>
                </a:solidFill>
                <a:latin typeface="PingFang SC"/>
              </a:defRPr>
            </a:pPr>
            <a:r>
              <a:t>这些不是孤立例子，而是后续供应链、物流、库存和经营模型的基础积木。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63E"/>
                </a:solidFill>
                <a:latin typeface="PingFang SC"/>
              </a:defRPr>
            </a:pPr>
            <a:r>
              <a:t>排班系统：从模型到可运行系统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C6978"/>
                </a:solidFill>
                <a:latin typeface="PingFang SC"/>
              </a:defRPr>
            </a:pPr>
            <a:r>
              <a:t>把人员、规则和管理目标转成可交互的求解服务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3840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建模能力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63240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覆盖约束：每天人数要够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可用性约束：不能排不可用日期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工作量约束：每人最多班次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技能约束：关键岗位要覆盖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384048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真实业务取舍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63240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软约束：无解时给最小缺口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罚分权重：不同违规不同代价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多目标：公平、偏好、成本并存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分阶段：先保覆盖再优化体验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384048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36192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工程化成果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63240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Flask 页面和 JSON API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CSV 数据输入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情景分析和报表导出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自动化测试和性能基准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63E"/>
                </a:solidFill>
                <a:latin typeface="PingFang SC"/>
              </a:defRPr>
            </a:pPr>
            <a:r>
              <a:t>跨境电商模拟器：35 个业务场景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C6978"/>
                </a:solidFill>
                <a:latin typeface="PingFang SC"/>
              </a:defRPr>
            </a:pPr>
            <a:r>
              <a:t>把 CPLEX 从排班扩展到库存、物流和经营决策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仓网与履约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56231"/>
            <a:ext cx="47548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严格 SLA、旺季缺口、临时扩容、库存前置、新市场进入、天气风险、利润优先分配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123444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90472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补货与库存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56231"/>
            <a:ext cx="47548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供应商采购、评分体系、现金流、整柜/拼箱/空运、跨仓调拨、安全库存、稳健库存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73152" cy="123444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36392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物流路径与服务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502152"/>
            <a:ext cx="47548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Landed Cost、关税、DDU/DDP、百分比 SLA、绿色物流、多目标、韧性、包装、渠道分配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718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71800"/>
            <a:ext cx="73152" cy="1234440"/>
          </a:xfrm>
          <a:prstGeom prst="rect">
            <a:avLst/>
          </a:prstGeom>
          <a:solidFill>
            <a:srgbClr val="B8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136392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8392F"/>
                </a:solidFill>
                <a:latin typeface="PingFang SC"/>
              </a:defRPr>
            </a:pPr>
            <a:r>
              <a:t>经营动作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502152"/>
            <a:ext cx="47548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退货、再销售、多平台库存、广告库存、客服排班、订单波次、促销、清仓、看板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63E"/>
                </a:solidFill>
                <a:latin typeface="PingFang SC"/>
              </a:defRPr>
            </a:pPr>
            <a:r>
              <a:t>统一逻辑：给定需求、库存、成本、时效和约束，计算怎样决策让成本最低或净贡献最大。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63E"/>
                </a:solidFill>
                <a:latin typeface="PingFang SC"/>
              </a:defRPr>
            </a:pPr>
            <a:r>
              <a:t>对业务管理的价值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C6978"/>
                </a:solidFill>
                <a:latin typeface="PingFang SC"/>
              </a:defRPr>
            </a:pPr>
            <a:r>
              <a:t>不只是“算出答案”，更是看清取舍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定位瓶颈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47672"/>
            <a:ext cx="466344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旺季缺口、仓容不足、现金流限制、供应商风险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141732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81912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比较方案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66344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扩容 vs 丢单、空运 vs 海运、DDU vs DDP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73152" cy="141732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547872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解释取舍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913632"/>
            <a:ext cx="466344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为什么不选最低价供应商，为什么促销预算不能无限加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8328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383280"/>
            <a:ext cx="73152" cy="1417320"/>
          </a:xfrm>
          <a:prstGeom prst="rect">
            <a:avLst/>
          </a:prstGeom>
          <a:solidFill>
            <a:srgbClr val="B8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547872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8392F"/>
                </a:solidFill>
                <a:latin typeface="PingFang SC"/>
              </a:defRPr>
            </a:pPr>
            <a:r>
              <a:t>支持沟通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913632"/>
            <a:ext cx="466344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把变量、目标、约束和结果翻译成业务语言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63E"/>
                </a:solidFill>
                <a:latin typeface="PingFang SC"/>
              </a:defRPr>
            </a:pPr>
            <a:r>
              <a:t>经理可以用它回答：资源加在哪里最有效？服务承诺快一天值不值？风险要不要提前买保险？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63E"/>
                </a:solidFill>
                <a:latin typeface="PingFang SC"/>
              </a:defRPr>
            </a:pPr>
            <a:r>
              <a:t>已经沉淀的交付物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C6978"/>
                </a:solidFill>
                <a:latin typeface="PingFang SC"/>
              </a:defRPr>
            </a:pPr>
            <a:r>
              <a:t>学习成果不是停留在笔记里，而是形成可运行资产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代码资产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56231"/>
            <a:ext cx="3063240" cy="3273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经典 DOcplex 示例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排班求解器和 Web/API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跨境电商 35 场景脚本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自动化测试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393192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文档资产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1"/>
            <a:ext cx="3063240" cy="3273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入门分享课件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10 页核心总结 PPT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经理演示脚本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跨境电商模拟器说明和讲义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3832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393192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演示资产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1"/>
            <a:ext cx="3063240" cy="3273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排班系统 5050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BMI 优化 5051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跨境电商模拟器 5052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可视化结果和场景菜单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63E"/>
                </a:solidFill>
                <a:latin typeface="PingFang SC"/>
              </a:defRPr>
            </a:pPr>
            <a:r>
              <a:t>下一步落地建议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C6978"/>
                </a:solidFill>
                <a:latin typeface="PingFang SC"/>
              </a:defRPr>
            </a:pPr>
            <a:r>
              <a:t>从学习 demo 走向真实业务试点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914400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80160"/>
            <a:ext cx="73152" cy="4206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44751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1. 选一个高价值场景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10512"/>
            <a:ext cx="3063240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建议从仓网扩容、跨仓调拨、供应商评分或促销预算开始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这些场景数据相对容易收集，业务价值直观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801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80160"/>
            <a:ext cx="73152" cy="420624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444751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2. 接入真实数据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810512"/>
            <a:ext cx="3063240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订单、库存、仓容、运费、供应商、SLA、罚分估值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先做小范围样本，不急着全量上线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73152" cy="420624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44751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3. 建立决策流程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063240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用情景分析比较方案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让业务确认目标和约束</a:t>
            </a:r>
          </a:p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  <a:r>
              <a:t>沉淀 API、报表和复盘机制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9263E"/>
                </a:solidFill>
                <a:latin typeface="PingFang SC"/>
              </a:defRPr>
            </a:pPr>
            <a:r>
              <a:t>总结：CPLEX 学习真正带走什么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1417320"/>
            <a:ext cx="9875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1417320"/>
            <a:ext cx="73152" cy="685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1581912"/>
            <a:ext cx="9555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6FEB"/>
                </a:solidFill>
                <a:latin typeface="PingFang SC"/>
              </a:defRPr>
            </a:pPr>
            <a:r>
              <a:t>1. 把复杂业务拆成变量、目标和约束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947672"/>
            <a:ext cx="955548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143000" y="2377440"/>
            <a:ext cx="9875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77440"/>
            <a:ext cx="73152" cy="685800"/>
          </a:xfrm>
          <a:prstGeom prst="rect">
            <a:avLst/>
          </a:prstGeom>
          <a:solidFill>
            <a:srgbClr val="14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542032"/>
            <a:ext cx="9555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7D55"/>
                </a:solidFill>
                <a:latin typeface="PingFang SC"/>
              </a:defRPr>
            </a:pPr>
            <a:r>
              <a:t>2. 把经验判断变成可计算规则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907792"/>
            <a:ext cx="955548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1143000" y="3337560"/>
            <a:ext cx="9875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37560"/>
            <a:ext cx="73152" cy="685800"/>
          </a:xfrm>
          <a:prstGeom prst="rect">
            <a:avLst/>
          </a:prstGeom>
          <a:solidFill>
            <a:srgbClr val="D1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3502152"/>
            <a:ext cx="9555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18B00"/>
                </a:solidFill>
                <a:latin typeface="PingFang SC"/>
              </a:defRPr>
            </a:pPr>
            <a:r>
              <a:t>3. 把冲突和取舍变成可解释结果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867912"/>
            <a:ext cx="955548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1143000" y="4297680"/>
            <a:ext cx="9875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4297680"/>
            <a:ext cx="73152" cy="685800"/>
          </a:xfrm>
          <a:prstGeom prst="rect">
            <a:avLst/>
          </a:prstGeom>
          <a:solidFill>
            <a:srgbClr val="B8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4462272"/>
            <a:ext cx="9555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8392F"/>
                </a:solidFill>
                <a:latin typeface="PingFang SC"/>
              </a:defRPr>
            </a:pPr>
            <a:r>
              <a:t>4. 把单次求解扩展成系统能力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828032"/>
            <a:ext cx="955548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9263E"/>
                </a:solidFill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9263E"/>
                </a:solidFill>
                <a:latin typeface="PingFang SC"/>
              </a:defRPr>
            </a:pPr>
            <a:r>
              <a:t>CPLEX 的价值不是替人拍脑袋，而是让业务决策在约束清楚、目标清楚、取舍清楚的基础上变得可计算。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8"/>
                </a:solidFill>
                <a:latin typeface="PingFang SC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